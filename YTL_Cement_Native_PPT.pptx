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YTL Cement - SAP S/4HANA Transformation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Business Case &amp; Technical Architecture</a:t>
            </a:r>
          </a:p>
          <a:p>
            <a:r>
              <a:t>Fully Editable Native PowerPoint Diagrams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37160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latin typeface="Arial"/>
              </a:defRPr>
            </a:pPr>
            <a:r>
              <a:t>YTL Cement - Business Capability Map (Current State - AS-IS)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8229600" cy="64008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latin typeface="Arial"/>
              </a:defRPr>
            </a:pP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7863840" cy="36576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latin typeface="Arial"/>
              </a:defRPr>
            </a:pPr>
            <a:r>
              <a:t>STRATEGIC LEVEL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1828800" cy="731520"/>
          </a:xfrm>
          <a:prstGeom prst="roundRect">
            <a:avLst/>
          </a:prstGeom>
          <a:solidFill>
            <a:srgbClr val="FFF4E6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latin typeface="Arial"/>
              </a:defRPr>
            </a:pPr>
            <a:r>
              <a:t>Procure-to-Pay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40" y="1645920"/>
            <a:ext cx="1828800" cy="731520"/>
          </a:xfrm>
          <a:prstGeom prst="roundRect">
            <a:avLst/>
          </a:prstGeom>
          <a:solidFill>
            <a:srgbClr val="FFF4E6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latin typeface="Arial"/>
              </a:defRPr>
            </a:pPr>
            <a:r>
              <a:t>Order-to-Cash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1645920"/>
            <a:ext cx="1828800" cy="731520"/>
          </a:xfrm>
          <a:prstGeom prst="roundRect">
            <a:avLst/>
          </a:prstGeom>
          <a:solidFill>
            <a:srgbClr val="FFF4E6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latin typeface="Arial"/>
              </a:defRPr>
            </a:pPr>
            <a:r>
              <a:t>Make-to-Stock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645920"/>
            <a:ext cx="1554480" cy="731520"/>
          </a:xfrm>
          <a:prstGeom prst="roundRect">
            <a:avLst/>
          </a:prstGeom>
          <a:solidFill>
            <a:srgbClr val="FFF4E6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latin typeface="Arial"/>
              </a:defRPr>
            </a:pPr>
            <a:r>
              <a:t>Finance &amp;</a:t>
            </a:r>
          </a:p>
          <a:p>
            <a:pPr algn="ctr">
              <a:defRPr sz="1100" b="0">
                <a:latin typeface="Arial"/>
              </a:defRPr>
            </a:pPr>
            <a:r>
              <a:t>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651760"/>
            <a:ext cx="7863840" cy="36576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latin typeface="Arial"/>
              </a:defRPr>
            </a:pPr>
            <a:r>
              <a:t>BUSINESS CAPABILITY LEVEL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200400"/>
            <a:ext cx="1463040" cy="822960"/>
          </a:xfrm>
          <a:prstGeom prst="roundRect">
            <a:avLst/>
          </a:prstGeom>
          <a:solidFill>
            <a:srgbClr val="FF6B6B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latin typeface="Arial"/>
              </a:defRPr>
            </a:pPr>
            <a:r>
              <a:t>Invoice</a:t>
            </a:r>
          </a:p>
          <a:p>
            <a:pPr algn="ctr">
              <a:defRPr sz="1000" b="1">
                <a:latin typeface="Arial"/>
              </a:defRPr>
            </a:pPr>
            <a:r>
              <a:t>Processing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68880" y="3200400"/>
            <a:ext cx="1463040" cy="822960"/>
          </a:xfrm>
          <a:prstGeom prst="roundRect">
            <a:avLst/>
          </a:prstGeom>
          <a:solidFill>
            <a:srgbClr val="FF6B6B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latin typeface="Arial"/>
              </a:defRPr>
            </a:pPr>
            <a:r>
              <a:t>GL</a:t>
            </a:r>
          </a:p>
          <a:p>
            <a:pPr algn="ctr">
              <a:defRPr sz="1000" b="1">
                <a:latin typeface="Arial"/>
              </a:defRPr>
            </a:pPr>
            <a:r>
              <a:t>Reconciliation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3200400"/>
            <a:ext cx="1463040" cy="822960"/>
          </a:xfrm>
          <a:prstGeom prst="roundRect">
            <a:avLst/>
          </a:prstGeom>
          <a:solidFill>
            <a:srgbClr val="FF6B6B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latin typeface="Arial"/>
              </a:defRPr>
            </a:pPr>
            <a:r>
              <a:t>Vendor</a:t>
            </a:r>
          </a:p>
          <a:p>
            <a:pPr algn="ctr">
              <a:defRPr sz="1000" b="1">
                <a:latin typeface="Arial"/>
              </a:defRPr>
            </a:pPr>
            <a:r>
              <a:t>Management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720" y="3200400"/>
            <a:ext cx="1463040" cy="822960"/>
          </a:xfrm>
          <a:prstGeom prst="roundRect">
            <a:avLst/>
          </a:prstGeom>
          <a:solidFill>
            <a:srgbClr val="FF6B6B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latin typeface="Arial"/>
              </a:defRPr>
            </a:pPr>
            <a:r>
              <a:t>SoD</a:t>
            </a:r>
          </a:p>
          <a:p>
            <a:pPr algn="ctr">
              <a:defRPr sz="1000" b="1">
                <a:latin typeface="Arial"/>
              </a:defRPr>
            </a:pPr>
            <a:r>
              <a:t>Compliance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3200400"/>
            <a:ext cx="1005840" cy="822960"/>
          </a:xfrm>
          <a:prstGeom prst="roundRect">
            <a:avLst/>
          </a:prstGeom>
          <a:solidFill>
            <a:srgbClr val="B0B0B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latin typeface="Arial"/>
              </a:defRPr>
            </a:pPr>
            <a:r>
              <a:t>e-Invoice</a:t>
            </a:r>
          </a:p>
          <a:p>
            <a:pPr algn="ctr">
              <a:defRPr sz="900" b="1">
                <a:latin typeface="Arial"/>
              </a:defRPr>
            </a:pPr>
            <a:r>
              <a:t>Compliance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297680"/>
            <a:ext cx="7863840" cy="36576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latin typeface="Arial"/>
              </a:defRPr>
            </a:pPr>
            <a:r>
              <a:t>FUNCTIONAL LEVEL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846320"/>
            <a:ext cx="1371600" cy="731520"/>
          </a:xfrm>
          <a:prstGeom prst="roundRect">
            <a:avLst/>
          </a:prstGeom>
          <a:solidFill>
            <a:srgbClr val="FFB3B3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latin typeface="Arial"/>
              </a:defRPr>
            </a:pPr>
            <a:r>
              <a:t>Create PO</a:t>
            </a:r>
          </a:p>
          <a:p>
            <a:pPr algn="ctr">
              <a:defRPr sz="900" b="0">
                <a:latin typeface="Arial"/>
              </a:defRPr>
            </a:pPr>
            <a:r>
              <a:t>Create PR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77440" y="4846320"/>
            <a:ext cx="1371600" cy="731520"/>
          </a:xfrm>
          <a:prstGeom prst="roundRect">
            <a:avLst/>
          </a:prstGeom>
          <a:solidFill>
            <a:srgbClr val="FFB3B3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latin typeface="Arial"/>
              </a:defRPr>
            </a:pPr>
            <a:r>
              <a:t>Match Invoice</a:t>
            </a:r>
          </a:p>
          <a:p>
            <a:pPr algn="ctr">
              <a:defRPr sz="900" b="0">
                <a:latin typeface="Arial"/>
              </a:defRPr>
            </a:pPr>
            <a:r>
              <a:t>to PO/GR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31920" y="4846320"/>
            <a:ext cx="1371600" cy="731520"/>
          </a:xfrm>
          <a:prstGeom prst="roundRect">
            <a:avLst/>
          </a:prstGeom>
          <a:solidFill>
            <a:srgbClr val="FFB3B3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latin typeface="Arial"/>
              </a:defRPr>
            </a:pPr>
            <a:r>
              <a:t>Post GL</a:t>
            </a:r>
          </a:p>
          <a:p>
            <a:pPr algn="ctr">
              <a:defRPr sz="900" b="0">
                <a:latin typeface="Arial"/>
              </a:defRPr>
            </a:pPr>
            <a:r>
              <a:t>Entries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0" y="4846320"/>
            <a:ext cx="1371600" cy="731520"/>
          </a:xfrm>
          <a:prstGeom prst="roundRect">
            <a:avLst/>
          </a:prstGeom>
          <a:solidFill>
            <a:srgbClr val="FFB3B3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latin typeface="Arial"/>
              </a:defRPr>
            </a:pPr>
            <a:r>
              <a:t>Detect SoD</a:t>
            </a:r>
          </a:p>
          <a:p>
            <a:pPr algn="ctr">
              <a:defRPr sz="900" b="0">
                <a:latin typeface="Arial"/>
              </a:defRPr>
            </a:pPr>
            <a:r>
              <a:t>Violations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4846320"/>
            <a:ext cx="1371600" cy="731520"/>
          </a:xfrm>
          <a:prstGeom prst="roundRect">
            <a:avLst/>
          </a:prstGeom>
          <a:solidFill>
            <a:srgbClr val="D0D0D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latin typeface="Arial"/>
              </a:defRPr>
            </a:pPr>
            <a:r>
              <a:t>Manual XML</a:t>
            </a:r>
          </a:p>
          <a:p>
            <a:pPr algn="ctr">
              <a:defRPr sz="900" b="0">
                <a:latin typeface="Arial"/>
              </a:defRPr>
            </a:pPr>
            <a:r>
              <a:t>Generation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1371600"/>
            <a:ext cx="5029200" cy="1097280"/>
          </a:xfrm>
          <a:prstGeom prst="roundRect">
            <a:avLst/>
          </a:prstGeom>
          <a:solidFill>
            <a:srgbClr val="FFFFDC"/>
          </a:solidFill>
          <a:ln w="12700">
            <a:solidFill>
              <a:srgbClr val="C8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/>
            </a:pPr>
            <a:r>
              <a:t>🔴 RED = Manual, Error-Prone</a:t>
            </a:r>
          </a:p>
          <a:p>
            <a:pPr>
              <a:defRPr sz="900"/>
            </a:pPr>
            <a:r>
              <a:t>Current: 28K invoices/month</a:t>
            </a:r>
          </a:p>
          <a:p>
            <a:pPr>
              <a:defRPr sz="900"/>
            </a:pPr>
            <a:r>
              <a:t>Issues: 1-2% undetected mismatches</a:t>
            </a:r>
          </a:p>
          <a:p>
            <a:pPr>
              <a:defRPr sz="900"/>
            </a:pPr>
            <a:r>
              <a:t>Cost: $280K-560K annually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2651760"/>
            <a:ext cx="5029200" cy="1097280"/>
          </a:xfrm>
          <a:prstGeom prst="roundRect">
            <a:avLst/>
          </a:prstGeom>
          <a:solidFill>
            <a:srgbClr val="FFFFDC"/>
          </a:solidFill>
          <a:ln w="12700">
            <a:solidFill>
              <a:srgbClr val="C8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/>
            </a:pPr>
            <a:r>
              <a:t>🔴 RED = Manual Process</a:t>
            </a:r>
          </a:p>
          <a:p>
            <a:pPr>
              <a:defRPr sz="900"/>
            </a:pPr>
            <a:r>
              <a:t>Current: 8-day close cycle</a:t>
            </a:r>
          </a:p>
          <a:p>
            <a:pPr>
              <a:defRPr sz="900"/>
            </a:pPr>
            <a:r>
              <a:t>Issues: Manual variance investigation</a:t>
            </a:r>
          </a:p>
          <a:p>
            <a:pPr>
              <a:defRPr sz="900"/>
            </a:pPr>
            <a:r>
              <a:t>Cost: $192K annually (labor)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0" y="3931920"/>
            <a:ext cx="5029200" cy="1097280"/>
          </a:xfrm>
          <a:prstGeom prst="roundRect">
            <a:avLst/>
          </a:prstGeom>
          <a:solidFill>
            <a:srgbClr val="FFFFDC"/>
          </a:solidFill>
          <a:ln w="12700">
            <a:solidFill>
              <a:srgbClr val="C8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/>
            </a:pPr>
            <a:r>
              <a:t>🔴 RED = Excel-Based</a:t>
            </a:r>
          </a:p>
          <a:p>
            <a:pPr>
              <a:defRPr sz="900"/>
            </a:pPr>
            <a:r>
              <a:t>Current: 8,000 vendors</a:t>
            </a:r>
          </a:p>
          <a:p>
            <a:pPr>
              <a:defRPr sz="900"/>
            </a:pPr>
            <a:r>
              <a:t>Issues: 23% duplicates</a:t>
            </a:r>
          </a:p>
          <a:p>
            <a:pPr>
              <a:defRPr sz="900"/>
            </a:pPr>
            <a:r>
              <a:t>Cost: $200K-400K loss annually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5212080"/>
            <a:ext cx="5029200" cy="1005840"/>
          </a:xfrm>
          <a:prstGeom prst="roundRect">
            <a:avLst/>
          </a:prstGeom>
          <a:solidFill>
            <a:srgbClr val="FFFFDC"/>
          </a:solidFill>
          <a:ln w="12700">
            <a:solidFill>
              <a:srgbClr val="C8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/>
            </a:pPr>
            <a:r>
              <a:t>🟡 YELLOW = Partial</a:t>
            </a:r>
          </a:p>
          <a:p>
            <a:pPr>
              <a:defRPr sz="900"/>
            </a:pPr>
            <a:r>
              <a:t>Current: Manual submission</a:t>
            </a:r>
          </a:p>
          <a:p>
            <a:pPr>
              <a:defRPr sz="900"/>
            </a:pPr>
            <a:r>
              <a:t>Issues: Error-prone, not scalable</a:t>
            </a:r>
          </a:p>
          <a:p>
            <a:pPr>
              <a:defRPr sz="900"/>
            </a:pPr>
            <a:r>
              <a:t>Deadline: Q2 2026 (LHDN MyInvois)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6400800"/>
            <a:ext cx="50292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latin typeface="Arial"/>
              </a:defRPr>
            </a:pPr>
            <a:r>
              <a:t>Legend:</a:t>
            </a:r>
          </a:p>
          <a:p>
            <a:pPr>
              <a:defRPr sz="800"/>
            </a:pPr>
            <a:r>
              <a:t>🔴 RED = Manual, Error-Prone, High Risk</a:t>
            </a:r>
          </a:p>
          <a:p>
            <a:pPr>
              <a:defRPr sz="800"/>
            </a:pPr>
            <a:r>
              <a:t>🟡 YELLOW = Partially Automated</a:t>
            </a:r>
          </a:p>
          <a:p>
            <a:pPr>
              <a:defRPr sz="800"/>
            </a:pPr>
            <a:r>
              <a:t>🟢 GREEN = Fully Automated, Optimized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37160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latin typeface="Arial"/>
              </a:defRPr>
            </a:pPr>
            <a:r>
              <a:t>YTL Cement - Business Capability Map (Target State - TO-BE)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8229600" cy="64008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latin typeface="Arial"/>
              </a:defRPr>
            </a:pP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7863840" cy="36576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latin typeface="Arial"/>
              </a:defRPr>
            </a:pPr>
            <a:r>
              <a:t>STRATEGIC LEVEL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1828800" cy="731520"/>
          </a:xfrm>
          <a:prstGeom prst="roundRect">
            <a:avLst/>
          </a:prstGeom>
          <a:solidFill>
            <a:srgbClr val="FFF4E6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latin typeface="Arial"/>
              </a:defRPr>
            </a:pPr>
            <a:r>
              <a:t>Procure-to-Pay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40" y="1645920"/>
            <a:ext cx="1828800" cy="731520"/>
          </a:xfrm>
          <a:prstGeom prst="roundRect">
            <a:avLst/>
          </a:prstGeom>
          <a:solidFill>
            <a:srgbClr val="FFF4E6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latin typeface="Arial"/>
              </a:defRPr>
            </a:pPr>
            <a:r>
              <a:t>Order-to-Cash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1645920"/>
            <a:ext cx="1828800" cy="731520"/>
          </a:xfrm>
          <a:prstGeom prst="roundRect">
            <a:avLst/>
          </a:prstGeom>
          <a:solidFill>
            <a:srgbClr val="FFF4E6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latin typeface="Arial"/>
              </a:defRPr>
            </a:pPr>
            <a:r>
              <a:t>Make-to-Stock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645920"/>
            <a:ext cx="1554480" cy="731520"/>
          </a:xfrm>
          <a:prstGeom prst="roundRect">
            <a:avLst/>
          </a:prstGeom>
          <a:solidFill>
            <a:srgbClr val="FFF4E6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latin typeface="Arial"/>
              </a:defRPr>
            </a:pPr>
            <a:r>
              <a:t>Finance &amp;</a:t>
            </a:r>
          </a:p>
          <a:p>
            <a:pPr algn="ctr">
              <a:defRPr sz="1100" b="0">
                <a:latin typeface="Arial"/>
              </a:defRPr>
            </a:pPr>
            <a:r>
              <a:t>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651760"/>
            <a:ext cx="7863840" cy="36576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latin typeface="Arial"/>
              </a:defRPr>
            </a:pPr>
            <a:r>
              <a:t>BUSINESS CAPABILITY LEVEL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200400"/>
            <a:ext cx="1463040" cy="822960"/>
          </a:xfrm>
          <a:prstGeom prst="roundRect">
            <a:avLst/>
          </a:prstGeom>
          <a:solidFill>
            <a:srgbClr val="66BB6A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latin typeface="Arial"/>
              </a:defRPr>
            </a:pPr>
            <a:r>
              <a:t>Invoice</a:t>
            </a:r>
          </a:p>
          <a:p>
            <a:pPr algn="ctr">
              <a:defRPr sz="1000" b="1">
                <a:latin typeface="Arial"/>
              </a:defRPr>
            </a:pPr>
            <a:r>
              <a:t>Processing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68880" y="3200400"/>
            <a:ext cx="1463040" cy="822960"/>
          </a:xfrm>
          <a:prstGeom prst="roundRect">
            <a:avLst/>
          </a:prstGeom>
          <a:solidFill>
            <a:srgbClr val="66BB6A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latin typeface="Arial"/>
              </a:defRPr>
            </a:pPr>
            <a:r>
              <a:t>GL</a:t>
            </a:r>
          </a:p>
          <a:p>
            <a:pPr algn="ctr">
              <a:defRPr sz="1000" b="1">
                <a:latin typeface="Arial"/>
              </a:defRPr>
            </a:pPr>
            <a:r>
              <a:t>Reconciliation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3200400"/>
            <a:ext cx="1463040" cy="822960"/>
          </a:xfrm>
          <a:prstGeom prst="roundRect">
            <a:avLst/>
          </a:prstGeom>
          <a:solidFill>
            <a:srgbClr val="66BB6A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latin typeface="Arial"/>
              </a:defRPr>
            </a:pPr>
            <a:r>
              <a:t>Vendor</a:t>
            </a:r>
          </a:p>
          <a:p>
            <a:pPr algn="ctr">
              <a:defRPr sz="1000" b="1">
                <a:latin typeface="Arial"/>
              </a:defRPr>
            </a:pPr>
            <a:r>
              <a:t>Management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720" y="3200400"/>
            <a:ext cx="1463040" cy="822960"/>
          </a:xfrm>
          <a:prstGeom prst="roundRect">
            <a:avLst/>
          </a:prstGeom>
          <a:solidFill>
            <a:srgbClr val="66BB6A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latin typeface="Arial"/>
              </a:defRPr>
            </a:pPr>
            <a:r>
              <a:t>SoD</a:t>
            </a:r>
          </a:p>
          <a:p>
            <a:pPr algn="ctr">
              <a:defRPr sz="1000" b="1">
                <a:latin typeface="Arial"/>
              </a:defRPr>
            </a:pPr>
            <a:r>
              <a:t>Compliance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3200400"/>
            <a:ext cx="1005840" cy="822960"/>
          </a:xfrm>
          <a:prstGeom prst="roundRect">
            <a:avLst/>
          </a:prstGeom>
          <a:solidFill>
            <a:srgbClr val="66BB6A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latin typeface="Arial"/>
              </a:defRPr>
            </a:pPr>
            <a:r>
              <a:t>e-Invoice</a:t>
            </a:r>
          </a:p>
          <a:p>
            <a:pPr algn="ctr">
              <a:defRPr sz="900" b="1">
                <a:latin typeface="Arial"/>
              </a:defRPr>
            </a:pPr>
            <a:r>
              <a:t>Compliance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297680"/>
            <a:ext cx="7863840" cy="36576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latin typeface="Arial"/>
              </a:defRPr>
            </a:pPr>
            <a:r>
              <a:t>FUNCTIONAL LEVEL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846320"/>
            <a:ext cx="1371600" cy="731520"/>
          </a:xfrm>
          <a:prstGeom prst="roundRect">
            <a:avLst/>
          </a:prstGeom>
          <a:solidFill>
            <a:srgbClr val="A8D5BA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latin typeface="Arial"/>
              </a:defRPr>
            </a:pPr>
            <a:r>
              <a:t>Automated PO</a:t>
            </a:r>
          </a:p>
          <a:p>
            <a:pPr algn="ctr">
              <a:defRPr sz="900" b="0">
                <a:latin typeface="Arial"/>
              </a:defRPr>
            </a:pPr>
            <a:r>
              <a:t>Generation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77440" y="4846320"/>
            <a:ext cx="1371600" cy="731520"/>
          </a:xfrm>
          <a:prstGeom prst="roundRect">
            <a:avLst/>
          </a:prstGeom>
          <a:solidFill>
            <a:srgbClr val="A8D5BA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latin typeface="Arial"/>
              </a:defRPr>
            </a:pPr>
            <a:r>
              <a:t>Continuous</a:t>
            </a:r>
          </a:p>
          <a:p>
            <a:pPr algn="ctr">
              <a:defRPr sz="900" b="0">
                <a:latin typeface="Arial"/>
              </a:defRPr>
            </a:pPr>
            <a:r>
              <a:t>3-Way Matching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31920" y="4846320"/>
            <a:ext cx="1371600" cy="731520"/>
          </a:xfrm>
          <a:prstGeom prst="roundRect">
            <a:avLst/>
          </a:prstGeom>
          <a:solidFill>
            <a:srgbClr val="A8D5BA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latin typeface="Arial"/>
              </a:defRPr>
            </a:pPr>
            <a:r>
              <a:t>Real-Time GL</a:t>
            </a:r>
          </a:p>
          <a:p>
            <a:pPr algn="ctr">
              <a:defRPr sz="900" b="0">
                <a:latin typeface="Arial"/>
              </a:defRPr>
            </a:pPr>
            <a:r>
              <a:t>Posting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0" y="4846320"/>
            <a:ext cx="1371600" cy="731520"/>
          </a:xfrm>
          <a:prstGeom prst="roundRect">
            <a:avLst/>
          </a:prstGeom>
          <a:solidFill>
            <a:srgbClr val="A8D5BA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latin typeface="Arial"/>
              </a:defRPr>
            </a:pPr>
            <a:r>
              <a:t>Real-Time SoD</a:t>
            </a:r>
          </a:p>
          <a:p>
            <a:pPr algn="ctr">
              <a:defRPr sz="900" b="0">
                <a:latin typeface="Arial"/>
              </a:defRPr>
            </a:pPr>
            <a:r>
              <a:t>Monitoring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4846320"/>
            <a:ext cx="1371600" cy="731520"/>
          </a:xfrm>
          <a:prstGeom prst="roundRect">
            <a:avLst/>
          </a:prstGeom>
          <a:solidFill>
            <a:srgbClr val="A8D5BA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latin typeface="Arial"/>
              </a:defRPr>
            </a:pPr>
            <a:r>
              <a:t>Automated</a:t>
            </a:r>
          </a:p>
          <a:p>
            <a:pPr algn="ctr">
              <a:defRPr sz="900" b="0">
                <a:latin typeface="Arial"/>
              </a:defRPr>
            </a:pPr>
            <a:r>
              <a:t>MyInvois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852160"/>
            <a:ext cx="7863840" cy="36576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latin typeface="Arial"/>
              </a:defRPr>
            </a:pPr>
            <a:r>
              <a:t>MVP MODULE LAYER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6400800"/>
            <a:ext cx="1371600" cy="640080"/>
          </a:xfrm>
          <a:prstGeom prst="roundRect">
            <a:avLst/>
          </a:prstGeom>
          <a:solidFill>
            <a:srgbClr val="42A5F5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latin typeface="Arial"/>
              </a:defRPr>
            </a:pPr>
            <a:r>
              <a:t>Invoice</a:t>
            </a:r>
          </a:p>
          <a:p>
            <a:pPr algn="ctr">
              <a:defRPr sz="900" b="1">
                <a:latin typeface="Arial"/>
              </a:defRPr>
            </a:pPr>
            <a:r>
              <a:t>Matching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377440" y="6400800"/>
            <a:ext cx="1371600" cy="640080"/>
          </a:xfrm>
          <a:prstGeom prst="roundRect">
            <a:avLst/>
          </a:prstGeom>
          <a:solidFill>
            <a:srgbClr val="42A5F5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latin typeface="Arial"/>
              </a:defRPr>
            </a:pPr>
            <a:r>
              <a:t>GL Anomaly</a:t>
            </a:r>
          </a:p>
          <a:p>
            <a:pPr algn="ctr">
              <a:defRPr sz="900" b="1">
                <a:latin typeface="Arial"/>
              </a:defRPr>
            </a:pPr>
            <a:r>
              <a:t>Detector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931920" y="6400800"/>
            <a:ext cx="1371600" cy="640080"/>
          </a:xfrm>
          <a:prstGeom prst="roundRect">
            <a:avLst/>
          </a:prstGeom>
          <a:solidFill>
            <a:srgbClr val="42A5F5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latin typeface="Arial"/>
              </a:defRPr>
            </a:pPr>
            <a:r>
              <a:t>Vendor Data</a:t>
            </a:r>
          </a:p>
          <a:p>
            <a:pPr algn="ctr">
              <a:defRPr sz="900" b="1">
                <a:latin typeface="Arial"/>
              </a:defRPr>
            </a:pPr>
            <a:r>
              <a:t>Quality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0" y="6400800"/>
            <a:ext cx="1371600" cy="640080"/>
          </a:xfrm>
          <a:prstGeom prst="roundRect">
            <a:avLst/>
          </a:prstGeom>
          <a:solidFill>
            <a:srgbClr val="42A5F5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latin typeface="Arial"/>
              </a:defRPr>
            </a:pPr>
            <a:r>
              <a:t>SoD</a:t>
            </a:r>
          </a:p>
          <a:p>
            <a:pPr algn="ctr">
              <a:defRPr sz="900" b="1">
                <a:latin typeface="Arial"/>
              </a:defRPr>
            </a:pPr>
            <a:r>
              <a:t>Analyzer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40880" y="6400800"/>
            <a:ext cx="1371600" cy="640080"/>
          </a:xfrm>
          <a:prstGeom prst="roundRect">
            <a:avLst/>
          </a:prstGeom>
          <a:solidFill>
            <a:srgbClr val="42A5F5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latin typeface="Arial"/>
              </a:defRPr>
            </a:pPr>
            <a:r>
              <a:t>e-Invoice</a:t>
            </a:r>
          </a:p>
          <a:p>
            <a:pPr algn="ctr">
              <a:defRPr sz="900" b="1">
                <a:latin typeface="Arial"/>
              </a:defRPr>
            </a:pPr>
            <a:r>
              <a:t>Module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0" y="1371600"/>
            <a:ext cx="5029200" cy="1097280"/>
          </a:xfrm>
          <a:prstGeom prst="roundRect">
            <a:avLst/>
          </a:prstGeom>
          <a:solidFill>
            <a:srgbClr val="FFFFDC"/>
          </a:solidFill>
          <a:ln w="12700">
            <a:solidFill>
              <a:srgbClr val="C8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/>
            </a:pPr>
            <a:r>
              <a:t>🟢 GREEN = Automated</a:t>
            </a:r>
          </a:p>
          <a:p>
            <a:pPr>
              <a:defRPr sz="900"/>
            </a:pPr>
            <a:r>
              <a:t>Target: 99.7% auto-match rate</a:t>
            </a:r>
          </a:p>
          <a:p>
            <a:pPr>
              <a:defRPr sz="900"/>
            </a:pPr>
            <a:r>
              <a:t>Benefit: $280K-560K savings</a:t>
            </a:r>
          </a:p>
          <a:p>
            <a:pPr>
              <a:defRPr sz="900"/>
            </a:pPr>
            <a:r>
              <a:t>Timeline: Continuous monitoring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0" y="2651760"/>
            <a:ext cx="5029200" cy="1097280"/>
          </a:xfrm>
          <a:prstGeom prst="roundRect">
            <a:avLst/>
          </a:prstGeom>
          <a:solidFill>
            <a:srgbClr val="FFFFDC"/>
          </a:solidFill>
          <a:ln w="12700">
            <a:solidFill>
              <a:srgbClr val="C8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/>
            </a:pPr>
            <a:r>
              <a:t>🟢 GREEN = Real-Time</a:t>
            </a:r>
          </a:p>
          <a:p>
            <a:pPr>
              <a:defRPr sz="900"/>
            </a:pPr>
            <a:r>
              <a:t>Target: 3-4 day close</a:t>
            </a:r>
          </a:p>
          <a:p>
            <a:pPr>
              <a:defRPr sz="900"/>
            </a:pPr>
            <a:r>
              <a:t>Benefit: $192K labor savings</a:t>
            </a:r>
          </a:p>
          <a:p>
            <a:pPr>
              <a:defRPr sz="900"/>
            </a:pPr>
            <a:r>
              <a:t>Timeline: Real-time anomaly detection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0" y="3931920"/>
            <a:ext cx="5029200" cy="1097280"/>
          </a:xfrm>
          <a:prstGeom prst="roundRect">
            <a:avLst/>
          </a:prstGeom>
          <a:solidFill>
            <a:srgbClr val="FFFFDC"/>
          </a:solidFill>
          <a:ln w="12700">
            <a:solidFill>
              <a:srgbClr val="C8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/>
            </a:pPr>
            <a:r>
              <a:t>🟢 GREEN = Data Quality</a:t>
            </a:r>
          </a:p>
          <a:p>
            <a:pPr>
              <a:defRPr sz="900"/>
            </a:pPr>
            <a:r>
              <a:t>Target: &lt;5% duplicates</a:t>
            </a:r>
          </a:p>
          <a:p>
            <a:pPr>
              <a:defRPr sz="900"/>
            </a:pPr>
            <a:r>
              <a:t>Benefit: $200K-400K recovery</a:t>
            </a:r>
          </a:p>
          <a:p>
            <a:pPr>
              <a:defRPr sz="900"/>
            </a:pPr>
            <a:r>
              <a:t>Timeline: Automated de-duplication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0" y="5212080"/>
            <a:ext cx="5029200" cy="1005840"/>
          </a:xfrm>
          <a:prstGeom prst="roundRect">
            <a:avLst/>
          </a:prstGeom>
          <a:solidFill>
            <a:srgbClr val="FFFFDC"/>
          </a:solidFill>
          <a:ln w="12700">
            <a:solidFill>
              <a:srgbClr val="C8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/>
            </a:pPr>
            <a:r>
              <a:t>🟢 GREEN = Automated</a:t>
            </a:r>
          </a:p>
          <a:p>
            <a:pPr>
              <a:defRPr sz="900"/>
            </a:pPr>
            <a:r>
              <a:t>Target: 100% LHDN compliance</a:t>
            </a:r>
          </a:p>
          <a:p>
            <a:pPr>
              <a:defRPr sz="900"/>
            </a:pPr>
            <a:r>
              <a:t>Benefit: 0.5 FTE labor savings</a:t>
            </a:r>
          </a:p>
          <a:p>
            <a:pPr>
              <a:defRPr sz="900"/>
            </a:pPr>
            <a:r>
              <a:t>Timeline: Automated submission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37160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latin typeface="Arial"/>
              </a:defRPr>
            </a:pPr>
            <a:r>
              <a:t>Gap Analysis: Current vs Target State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13716000" cy="365760"/>
          </a:xfrm>
          <a:prstGeom prst="roundRect">
            <a:avLst/>
          </a:prstGeom>
          <a:solidFill>
            <a:srgbClr val="C8C8C8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latin typeface="Arial"/>
              </a:defRPr>
            </a:pPr>
            <a:r>
              <a:t>GAP: Invoice Processing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4114800" cy="914400"/>
          </a:xfrm>
          <a:prstGeom prst="roundRect">
            <a:avLst/>
          </a:prstGeom>
          <a:solidFill>
            <a:srgbClr val="FF9999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latin typeface="Arial"/>
              </a:defRPr>
            </a:pPr>
            <a:r>
              <a:t>AS-IS</a:t>
            </a:r>
          </a:p>
          <a:p>
            <a:pPr>
              <a:defRPr sz="800"/>
            </a:pPr>
            <a:r>
              <a:t>• Manual 3-Way Match</a:t>
            </a:r>
          </a:p>
          <a:p>
            <a:pPr>
              <a:defRPr sz="800"/>
            </a:pPr>
            <a:r>
              <a:t>• 28K invoices/month</a:t>
            </a:r>
          </a:p>
          <a:p>
            <a:pPr>
              <a:defRPr sz="800"/>
            </a:pPr>
            <a:r>
              <a:t>• 1-2% errors</a:t>
            </a:r>
          </a:p>
          <a:p>
            <a:pPr>
              <a:defRPr sz="800"/>
            </a:pPr>
            <a:r>
              <a:t>• $280K-560K/yr cost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554480"/>
            <a:ext cx="4114800" cy="914400"/>
          </a:xfrm>
          <a:prstGeom prst="roundRect">
            <a:avLst/>
          </a:prstGeom>
          <a:solidFill>
            <a:srgbClr val="FFFF99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latin typeface="Arial"/>
              </a:defRPr>
            </a:pPr>
            <a:r>
              <a:t>SOLUTION</a:t>
            </a:r>
          </a:p>
          <a:p>
            <a:pPr>
              <a:defRPr sz="800"/>
            </a:pPr>
            <a:r>
              <a:t>• Invoice Matching MVP</a:t>
            </a:r>
          </a:p>
          <a:p>
            <a:pPr>
              <a:defRPr sz="800"/>
            </a:pPr>
            <a:r>
              <a:t>• Continuous monitoring</a:t>
            </a:r>
          </a:p>
          <a:p>
            <a:pPr>
              <a:defRPr sz="800"/>
            </a:pPr>
            <a:r>
              <a:t>• 99.7% accuracy</a:t>
            </a:r>
          </a:p>
          <a:p>
            <a:pPr>
              <a:defRPr sz="800"/>
            </a:pPr>
            <a:r>
              <a:t>• Pattern detection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1554480"/>
            <a:ext cx="4572000" cy="914400"/>
          </a:xfrm>
          <a:prstGeom prst="roundRect">
            <a:avLst/>
          </a:prstGeom>
          <a:solidFill>
            <a:srgbClr val="99FF99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latin typeface="Arial"/>
              </a:defRPr>
            </a:pPr>
            <a:r>
              <a:t>TO-BE</a:t>
            </a:r>
          </a:p>
          <a:p>
            <a:pPr>
              <a:defRPr sz="800"/>
            </a:pPr>
            <a:r>
              <a:t>• Automated Match</a:t>
            </a:r>
          </a:p>
          <a:p>
            <a:pPr>
              <a:defRPr sz="800"/>
            </a:pPr>
            <a:r>
              <a:t>• ROI: &lt;1 month</a:t>
            </a:r>
          </a:p>
          <a:p>
            <a:pPr>
              <a:defRPr sz="800"/>
            </a:pPr>
            <a:r>
              <a:t>• Effort: 4-5 weeks</a:t>
            </a:r>
          </a:p>
          <a:p>
            <a:pPr>
              <a:defRPr sz="800"/>
            </a:pPr>
            <a:r>
              <a:t>• Value: $280K-560K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468880"/>
            <a:ext cx="13716000" cy="365760"/>
          </a:xfrm>
          <a:prstGeom prst="roundRect">
            <a:avLst/>
          </a:prstGeom>
          <a:solidFill>
            <a:srgbClr val="C8C8C8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latin typeface="Arial"/>
              </a:defRPr>
            </a:pPr>
            <a:r>
              <a:t>GAP: GL Reconciliation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26080"/>
            <a:ext cx="4114800" cy="914400"/>
          </a:xfrm>
          <a:prstGeom prst="roundRect">
            <a:avLst/>
          </a:prstGeom>
          <a:solidFill>
            <a:srgbClr val="FF9999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latin typeface="Arial"/>
              </a:defRPr>
            </a:pPr>
            <a:r>
              <a:t>AS-IS</a:t>
            </a:r>
          </a:p>
          <a:p>
            <a:pPr>
              <a:defRPr sz="800"/>
            </a:pPr>
            <a:r>
              <a:t>• 8-day close cycle</a:t>
            </a:r>
          </a:p>
          <a:p>
            <a:pPr>
              <a:defRPr sz="800"/>
            </a:pPr>
            <a:r>
              <a:t>• Manual variance</a:t>
            </a:r>
          </a:p>
          <a:p>
            <a:pPr>
              <a:defRPr sz="800"/>
            </a:pPr>
            <a:r>
              <a:t>• 2-3 FTE per close</a:t>
            </a:r>
          </a:p>
          <a:p>
            <a:pPr>
              <a:defRPr sz="800"/>
            </a:pPr>
            <a:r>
              <a:t>• $192K/yr cost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2926080"/>
            <a:ext cx="4114800" cy="914400"/>
          </a:xfrm>
          <a:prstGeom prst="roundRect">
            <a:avLst/>
          </a:prstGeom>
          <a:solidFill>
            <a:srgbClr val="FFFF99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latin typeface="Arial"/>
              </a:defRPr>
            </a:pPr>
            <a:r>
              <a:t>SOLUTION</a:t>
            </a:r>
          </a:p>
          <a:p>
            <a:pPr>
              <a:defRPr sz="800"/>
            </a:pPr>
            <a:r>
              <a:t>• GL Anomaly Detector</a:t>
            </a:r>
          </a:p>
          <a:p>
            <a:pPr>
              <a:defRPr sz="800"/>
            </a:pPr>
            <a:r>
              <a:t>• Real-time monitoring</a:t>
            </a:r>
          </a:p>
          <a:p>
            <a:pPr>
              <a:defRPr sz="800"/>
            </a:pPr>
            <a:r>
              <a:t>• 4-day close target</a:t>
            </a:r>
          </a:p>
          <a:p>
            <a:pPr>
              <a:defRPr sz="800"/>
            </a:pPr>
            <a:r>
              <a:t>• Auto-detection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0" y="2926080"/>
            <a:ext cx="4572000" cy="914400"/>
          </a:xfrm>
          <a:prstGeom prst="roundRect">
            <a:avLst/>
          </a:prstGeom>
          <a:solidFill>
            <a:srgbClr val="99FF99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latin typeface="Arial"/>
              </a:defRPr>
            </a:pPr>
            <a:r>
              <a:t>TO-BE</a:t>
            </a:r>
          </a:p>
          <a:p>
            <a:pPr>
              <a:defRPr sz="800"/>
            </a:pPr>
            <a:r>
              <a:t>• Real-Time Recon</a:t>
            </a:r>
          </a:p>
          <a:p>
            <a:pPr>
              <a:defRPr sz="800"/>
            </a:pPr>
            <a:r>
              <a:t>• ROI: 1-2 months</a:t>
            </a:r>
          </a:p>
          <a:p>
            <a:pPr>
              <a:defRPr sz="800"/>
            </a:pPr>
            <a:r>
              <a:t>• Effort: 5-6 weeks</a:t>
            </a:r>
          </a:p>
          <a:p>
            <a:pPr>
              <a:defRPr sz="800"/>
            </a:pPr>
            <a:r>
              <a:t>• Value: $192K/yr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840480"/>
            <a:ext cx="13716000" cy="365760"/>
          </a:xfrm>
          <a:prstGeom prst="roundRect">
            <a:avLst/>
          </a:prstGeom>
          <a:solidFill>
            <a:srgbClr val="C8C8C8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latin typeface="Arial"/>
              </a:defRPr>
            </a:pPr>
            <a:r>
              <a:t>GAP: Vendor Data Quality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297680"/>
            <a:ext cx="4114800" cy="914400"/>
          </a:xfrm>
          <a:prstGeom prst="roundRect">
            <a:avLst/>
          </a:prstGeom>
          <a:solidFill>
            <a:srgbClr val="FF9999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latin typeface="Arial"/>
              </a:defRPr>
            </a:pPr>
            <a:r>
              <a:t>AS-IS</a:t>
            </a:r>
          </a:p>
          <a:p>
            <a:pPr>
              <a:defRPr sz="800"/>
            </a:pPr>
            <a:r>
              <a:t>• 8,000 vendors</a:t>
            </a:r>
          </a:p>
          <a:p>
            <a:pPr>
              <a:defRPr sz="800"/>
            </a:pPr>
            <a:r>
              <a:t>• 23% duplicates</a:t>
            </a:r>
          </a:p>
          <a:p>
            <a:pPr>
              <a:defRPr sz="800"/>
            </a:pPr>
            <a:r>
              <a:t>• Manual management</a:t>
            </a:r>
          </a:p>
          <a:p>
            <a:pPr>
              <a:defRPr sz="800"/>
            </a:pPr>
            <a:r>
              <a:t>• $200K-400K/yr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4297680"/>
            <a:ext cx="4114800" cy="914400"/>
          </a:xfrm>
          <a:prstGeom prst="roundRect">
            <a:avLst/>
          </a:prstGeom>
          <a:solidFill>
            <a:srgbClr val="FFFF99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latin typeface="Arial"/>
              </a:defRPr>
            </a:pPr>
            <a:r>
              <a:t>SOLUTION</a:t>
            </a:r>
          </a:p>
          <a:p>
            <a:pPr>
              <a:defRPr sz="800"/>
            </a:pPr>
            <a:r>
              <a:t>• Vendor Quality MVP</a:t>
            </a:r>
          </a:p>
          <a:p>
            <a:pPr>
              <a:defRPr sz="800"/>
            </a:pPr>
            <a:r>
              <a:t>• Auto de-duplication</a:t>
            </a:r>
          </a:p>
          <a:p>
            <a:pPr>
              <a:defRPr sz="800"/>
            </a:pPr>
            <a:r>
              <a:t>• Quality scoring</a:t>
            </a:r>
          </a:p>
          <a:p>
            <a:pPr>
              <a:defRPr sz="800"/>
            </a:pPr>
            <a:r>
              <a:t>• Compliance checks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0" y="4297680"/>
            <a:ext cx="4572000" cy="914400"/>
          </a:xfrm>
          <a:prstGeom prst="roundRect">
            <a:avLst/>
          </a:prstGeom>
          <a:solidFill>
            <a:srgbClr val="99FF99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latin typeface="Arial"/>
              </a:defRPr>
            </a:pPr>
            <a:r>
              <a:t>TO-BE</a:t>
            </a:r>
          </a:p>
          <a:p>
            <a:pPr>
              <a:defRPr sz="800"/>
            </a:pPr>
            <a:r>
              <a:t>• Automated Master</a:t>
            </a:r>
          </a:p>
          <a:p>
            <a:pPr>
              <a:defRPr sz="800"/>
            </a:pPr>
            <a:r>
              <a:t>• ROI: 1-2 months</a:t>
            </a:r>
          </a:p>
          <a:p>
            <a:pPr>
              <a:defRPr sz="800"/>
            </a:pPr>
            <a:r>
              <a:t>• Effort: 6-8 weeks</a:t>
            </a:r>
          </a:p>
          <a:p>
            <a:pPr>
              <a:defRPr sz="800"/>
            </a:pPr>
            <a:r>
              <a:t>• Value: $200K-400K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212080"/>
            <a:ext cx="13716000" cy="365760"/>
          </a:xfrm>
          <a:prstGeom prst="roundRect">
            <a:avLst/>
          </a:prstGeom>
          <a:solidFill>
            <a:srgbClr val="C8C8C8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latin typeface="Arial"/>
              </a:defRPr>
            </a:pPr>
            <a:r>
              <a:t>GAP: SoD Compliance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669280"/>
            <a:ext cx="4114800" cy="914400"/>
          </a:xfrm>
          <a:prstGeom prst="roundRect">
            <a:avLst/>
          </a:prstGeom>
          <a:solidFill>
            <a:srgbClr val="FF9999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latin typeface="Arial"/>
              </a:defRPr>
            </a:pPr>
            <a:r>
              <a:t>AS-IS</a:t>
            </a:r>
          </a:p>
          <a:p>
            <a:pPr>
              <a:defRPr sz="800"/>
            </a:pPr>
            <a:r>
              <a:t>• Quarterly audits</a:t>
            </a:r>
          </a:p>
          <a:p>
            <a:pPr>
              <a:defRPr sz="800"/>
            </a:pPr>
            <a:r>
              <a:t>• 6-month lag</a:t>
            </a:r>
          </a:p>
          <a:p>
            <a:pPr>
              <a:defRPr sz="800"/>
            </a:pPr>
            <a:r>
              <a:t>• Audit findings</a:t>
            </a:r>
          </a:p>
          <a:p>
            <a:pPr>
              <a:defRPr sz="800"/>
            </a:pPr>
            <a:r>
              <a:t>• HIGH risk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5669280"/>
            <a:ext cx="4114800" cy="914400"/>
          </a:xfrm>
          <a:prstGeom prst="roundRect">
            <a:avLst/>
          </a:prstGeom>
          <a:solidFill>
            <a:srgbClr val="FFFF99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latin typeface="Arial"/>
              </a:defRPr>
            </a:pPr>
            <a:r>
              <a:t>SOLUTION</a:t>
            </a:r>
          </a:p>
          <a:p>
            <a:pPr>
              <a:defRPr sz="800"/>
            </a:pPr>
            <a:r>
              <a:t>• SoD Analyzer MVP</a:t>
            </a:r>
          </a:p>
          <a:p>
            <a:pPr>
              <a:defRPr sz="800"/>
            </a:pPr>
            <a:r>
              <a:t>• Real-time monitor</a:t>
            </a:r>
          </a:p>
          <a:p>
            <a:pPr>
              <a:defRPr sz="800"/>
            </a:pPr>
            <a:r>
              <a:t>• 25 key rules</a:t>
            </a:r>
          </a:p>
          <a:p>
            <a:pPr>
              <a:defRPr sz="800"/>
            </a:pPr>
            <a:r>
              <a:t>• Auto-escalation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0" y="5669280"/>
            <a:ext cx="4572000" cy="914400"/>
          </a:xfrm>
          <a:prstGeom prst="roundRect">
            <a:avLst/>
          </a:prstGeom>
          <a:solidFill>
            <a:srgbClr val="99FF99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latin typeface="Arial"/>
              </a:defRPr>
            </a:pPr>
            <a:r>
              <a:t>TO-BE</a:t>
            </a:r>
          </a:p>
          <a:p>
            <a:pPr>
              <a:defRPr sz="800"/>
            </a:pPr>
            <a:r>
              <a:t>• Real-Time SoD</a:t>
            </a:r>
          </a:p>
          <a:p>
            <a:pPr>
              <a:defRPr sz="800"/>
            </a:pPr>
            <a:r>
              <a:t>• ROI: 2-3 months</a:t>
            </a:r>
          </a:p>
          <a:p>
            <a:pPr>
              <a:defRPr sz="800"/>
            </a:pPr>
            <a:r>
              <a:t>• Effort: 5-6 weeks</a:t>
            </a:r>
          </a:p>
          <a:p>
            <a:pPr>
              <a:defRPr sz="800"/>
            </a:pPr>
            <a:r>
              <a:t>• Value: Risk mitigation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6583680"/>
            <a:ext cx="13716000" cy="1097280"/>
          </a:xfrm>
          <a:prstGeom prst="roundRect">
            <a:avLst/>
          </a:prstGeom>
          <a:solidFill>
            <a:srgbClr val="FFFFDC"/>
          </a:solidFill>
          <a:ln w="12700">
            <a:solidFill>
              <a:srgbClr val="C8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/>
            </a:pPr>
            <a:r>
              <a:t>Total Gap Closure Summary:</a:t>
            </a:r>
          </a:p>
          <a:p>
            <a:pPr>
              <a:defRPr sz="900"/>
            </a:pPr>
            <a:r>
              <a:t>5 Major Gaps → 5 MVP Modules</a:t>
            </a:r>
          </a:p>
          <a:p>
            <a:pPr>
              <a:defRPr sz="900"/>
            </a:pPr>
            <a:r>
              <a:t>Total Investment: $160K-240K (MVP modules)</a:t>
            </a:r>
          </a:p>
          <a:p>
            <a:pPr>
              <a:defRPr sz="900"/>
            </a:pPr>
            <a:r>
              <a:t>Total Year 1 Benefit: $722K-1.2M</a:t>
            </a:r>
          </a:p>
          <a:p>
            <a:pPr>
              <a:defRPr sz="900"/>
            </a:pPr>
            <a:r>
              <a:t>Payback Period: 10-16 months</a:t>
            </a:r>
          </a:p>
          <a:p>
            <a:pPr>
              <a:defRPr sz="900"/>
            </a:pPr>
            <a:r>
              <a:t>Implementation: 18-week Phase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37160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latin typeface="Arial"/>
              </a:defRPr>
            </a:pPr>
            <a:r>
              <a:t>ROI &amp; Annual Business Value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6400800" cy="457200"/>
          </a:xfrm>
          <a:prstGeom prst="roundRect">
            <a:avLst/>
          </a:prstGeom>
          <a:solidFill>
            <a:srgbClr val="FFE6E6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latin typeface="Arial"/>
              </a:defRPr>
            </a:pPr>
            <a:r>
              <a:t>INVESTMENT REQUIRED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4572000" cy="457200"/>
          </a:xfrm>
          <a:prstGeom prst="roundRect">
            <a:avLst/>
          </a:prstGeom>
          <a:solidFill>
            <a:srgbClr val="FFF0F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latin typeface="Arial"/>
              </a:defRPr>
            </a:pPr>
            <a:r>
              <a:t>S/4HANA License (1 year)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12080" y="1645920"/>
            <a:ext cx="1645920" cy="457200"/>
          </a:xfrm>
          <a:prstGeom prst="roundRect">
            <a:avLst/>
          </a:prstGeom>
          <a:solidFill>
            <a:srgbClr val="FFC8C8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latin typeface="Arial"/>
              </a:defRPr>
            </a:pPr>
            <a:r>
              <a:t>$200K-250K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4572000" cy="457200"/>
          </a:xfrm>
          <a:prstGeom prst="roundRect">
            <a:avLst/>
          </a:prstGeom>
          <a:solidFill>
            <a:srgbClr val="FFF0F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latin typeface="Arial"/>
              </a:defRPr>
            </a:pPr>
            <a:r>
              <a:t>Infrastructure/Hardware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12080" y="2194560"/>
            <a:ext cx="1645920" cy="457200"/>
          </a:xfrm>
          <a:prstGeom prst="roundRect">
            <a:avLst/>
          </a:prstGeom>
          <a:solidFill>
            <a:srgbClr val="FFC8C8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latin typeface="Arial"/>
              </a:defRPr>
            </a:pPr>
            <a:r>
              <a:t>$150K-200K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743200"/>
            <a:ext cx="4572000" cy="457200"/>
          </a:xfrm>
          <a:prstGeom prst="roundRect">
            <a:avLst/>
          </a:prstGeom>
          <a:solidFill>
            <a:srgbClr val="FFF0F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latin typeface="Arial"/>
              </a:defRPr>
            </a:pPr>
            <a:r>
              <a:t>Implementation Services (1,000 MD)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0" y="2743200"/>
            <a:ext cx="1645920" cy="457200"/>
          </a:xfrm>
          <a:prstGeom prst="roundRect">
            <a:avLst/>
          </a:prstGeom>
          <a:solidFill>
            <a:srgbClr val="FFC8C8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latin typeface="Arial"/>
              </a:defRPr>
            </a:pPr>
            <a:r>
              <a:t>$200K-300K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291840"/>
            <a:ext cx="4572000" cy="457200"/>
          </a:xfrm>
          <a:prstGeom prst="roundRect">
            <a:avLst/>
          </a:prstGeom>
          <a:solidFill>
            <a:srgbClr val="FFF0F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latin typeface="Arial"/>
              </a:defRPr>
            </a:pPr>
            <a:r>
              <a:t>MVP Modules (5 modules)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2080" y="3291840"/>
            <a:ext cx="1645920" cy="457200"/>
          </a:xfrm>
          <a:prstGeom prst="roundRect">
            <a:avLst/>
          </a:prstGeom>
          <a:solidFill>
            <a:srgbClr val="FFC8C8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latin typeface="Arial"/>
              </a:defRPr>
            </a:pPr>
            <a:r>
              <a:t>$160K-240K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840480"/>
            <a:ext cx="4572000" cy="457200"/>
          </a:xfrm>
          <a:prstGeom prst="roundRect">
            <a:avLst/>
          </a:prstGeom>
          <a:solidFill>
            <a:srgbClr val="FFF0F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latin typeface="Arial"/>
              </a:defRPr>
            </a:pPr>
            <a:r>
              <a:t>Change Management &amp; Training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0" y="3840480"/>
            <a:ext cx="1645920" cy="457200"/>
          </a:xfrm>
          <a:prstGeom prst="roundRect">
            <a:avLst/>
          </a:prstGeom>
          <a:solidFill>
            <a:srgbClr val="FFC8C8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latin typeface="Arial"/>
              </a:defRPr>
            </a:pPr>
            <a:r>
              <a:t>$100K-150K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389120"/>
            <a:ext cx="6400800" cy="548640"/>
          </a:xfrm>
          <a:prstGeom prst="roundRect">
            <a:avLst/>
          </a:prstGeom>
          <a:solidFill>
            <a:srgbClr val="FF6464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latin typeface="Arial"/>
              </a:defRPr>
            </a:pPr>
            <a:r>
              <a:t>TOTAL PHASE 1 INVESTMENT: $810K-1,140K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097280"/>
            <a:ext cx="6400800" cy="457200"/>
          </a:xfrm>
          <a:prstGeom prst="roundRect">
            <a:avLst/>
          </a:prstGeom>
          <a:solidFill>
            <a:srgbClr val="E6FFE6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latin typeface="Arial"/>
              </a:defRPr>
            </a:pPr>
            <a:r>
              <a:t>ANNUAL BENEFITS (Year 1+)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1645920"/>
            <a:ext cx="3657600" cy="457200"/>
          </a:xfrm>
          <a:prstGeom prst="roundRect">
            <a:avLst/>
          </a:prstGeom>
          <a:solidFill>
            <a:srgbClr val="F0FFF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latin typeface="Arial"/>
              </a:defRPr>
            </a:pPr>
            <a:r>
              <a:t>Invoice Matching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612880" y="1645920"/>
            <a:ext cx="1371600" cy="457200"/>
          </a:xfrm>
          <a:prstGeom prst="roundRect">
            <a:avLst/>
          </a:prstGeom>
          <a:solidFill>
            <a:srgbClr val="C8FFC8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latin typeface="Arial"/>
              </a:defRPr>
            </a:pPr>
            <a:r>
              <a:t>$280K-560K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075920" y="1645920"/>
            <a:ext cx="1097280" cy="457200"/>
          </a:xfrm>
          <a:prstGeom prst="roundRect">
            <a:avLst/>
          </a:prstGeom>
          <a:solidFill>
            <a:srgbClr val="DCFFDC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latin typeface="Arial"/>
              </a:defRPr>
            </a:pPr>
            <a:r>
              <a:t>Month 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2194560"/>
            <a:ext cx="3657600" cy="457200"/>
          </a:xfrm>
          <a:prstGeom prst="roundRect">
            <a:avLst/>
          </a:prstGeom>
          <a:solidFill>
            <a:srgbClr val="F0FFF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latin typeface="Arial"/>
              </a:defRPr>
            </a:pPr>
            <a:r>
              <a:t>GL Anomaly Detector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612880" y="2194560"/>
            <a:ext cx="1371600" cy="457200"/>
          </a:xfrm>
          <a:prstGeom prst="roundRect">
            <a:avLst/>
          </a:prstGeom>
          <a:solidFill>
            <a:srgbClr val="C8FFC8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latin typeface="Arial"/>
              </a:defRPr>
            </a:pPr>
            <a:r>
              <a:t>$192K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075920" y="2194560"/>
            <a:ext cx="1097280" cy="457200"/>
          </a:xfrm>
          <a:prstGeom prst="roundRect">
            <a:avLst/>
          </a:prstGeom>
          <a:solidFill>
            <a:srgbClr val="DCFFDC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latin typeface="Arial"/>
              </a:defRPr>
            </a:pPr>
            <a:r>
              <a:t>Month 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0" y="2743200"/>
            <a:ext cx="3657600" cy="457200"/>
          </a:xfrm>
          <a:prstGeom prst="roundRect">
            <a:avLst/>
          </a:prstGeom>
          <a:solidFill>
            <a:srgbClr val="F0FFF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latin typeface="Arial"/>
              </a:defRPr>
            </a:pPr>
            <a:r>
              <a:t>Vendor Data Quality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612880" y="2743200"/>
            <a:ext cx="1371600" cy="457200"/>
          </a:xfrm>
          <a:prstGeom prst="roundRect">
            <a:avLst/>
          </a:prstGeom>
          <a:solidFill>
            <a:srgbClr val="C8FFC8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latin typeface="Arial"/>
              </a:defRPr>
            </a:pPr>
            <a:r>
              <a:t>$200K-400K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075920" y="2743200"/>
            <a:ext cx="1097280" cy="457200"/>
          </a:xfrm>
          <a:prstGeom prst="roundRect">
            <a:avLst/>
          </a:prstGeom>
          <a:solidFill>
            <a:srgbClr val="DCFFDC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latin typeface="Arial"/>
              </a:defRPr>
            </a:pPr>
            <a:r>
              <a:t>Month 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0" y="3291840"/>
            <a:ext cx="3657600" cy="457200"/>
          </a:xfrm>
          <a:prstGeom prst="roundRect">
            <a:avLst/>
          </a:prstGeom>
          <a:solidFill>
            <a:srgbClr val="F0FFF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latin typeface="Arial"/>
              </a:defRPr>
            </a:pPr>
            <a:r>
              <a:t>SoD Analyzer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612880" y="3291840"/>
            <a:ext cx="1371600" cy="457200"/>
          </a:xfrm>
          <a:prstGeom prst="roundRect">
            <a:avLst/>
          </a:prstGeom>
          <a:solidFill>
            <a:srgbClr val="C8FFC8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latin typeface="Arial"/>
              </a:defRPr>
            </a:pPr>
            <a:r>
              <a:t>$40K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075920" y="3291840"/>
            <a:ext cx="1097280" cy="457200"/>
          </a:xfrm>
          <a:prstGeom prst="roundRect">
            <a:avLst/>
          </a:prstGeom>
          <a:solidFill>
            <a:srgbClr val="DCFFDC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latin typeface="Arial"/>
              </a:defRPr>
            </a:pPr>
            <a:r>
              <a:t>Month 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0" y="3840480"/>
            <a:ext cx="3657600" cy="457200"/>
          </a:xfrm>
          <a:prstGeom prst="roundRect">
            <a:avLst/>
          </a:prstGeom>
          <a:solidFill>
            <a:srgbClr val="F0FFF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latin typeface="Arial"/>
              </a:defRPr>
            </a:pPr>
            <a:r>
              <a:t>e-Invoice Module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612880" y="3840480"/>
            <a:ext cx="1371600" cy="457200"/>
          </a:xfrm>
          <a:prstGeom prst="roundRect">
            <a:avLst/>
          </a:prstGeom>
          <a:solidFill>
            <a:srgbClr val="C8FFC8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latin typeface="Arial"/>
              </a:defRPr>
            </a:pPr>
            <a:r>
              <a:t>Compliance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075920" y="3840480"/>
            <a:ext cx="1097280" cy="457200"/>
          </a:xfrm>
          <a:prstGeom prst="roundRect">
            <a:avLst/>
          </a:prstGeom>
          <a:solidFill>
            <a:srgbClr val="DCFFDC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latin typeface="Arial"/>
              </a:defRPr>
            </a:pPr>
            <a:r>
              <a:t>Month 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0" y="4389120"/>
            <a:ext cx="6400800" cy="548640"/>
          </a:xfrm>
          <a:prstGeom prst="roundRect">
            <a:avLst/>
          </a:prstGeom>
          <a:solidFill>
            <a:srgbClr val="64FF64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latin typeface="Arial"/>
              </a:defRPr>
            </a:pPr>
            <a:r>
              <a:t>TOTAL YEAR 1 BENEFIT: $722K-1.2M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029200"/>
            <a:ext cx="13716000" cy="457200"/>
          </a:xfrm>
          <a:prstGeom prst="roundRect">
            <a:avLst/>
          </a:prstGeom>
          <a:solidFill>
            <a:srgbClr val="FFFFC8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latin typeface="Arial"/>
              </a:defRPr>
            </a:pPr>
            <a:r>
              <a:t>ROI CALCULATION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577840"/>
            <a:ext cx="4114800" cy="411480"/>
          </a:xfrm>
          <a:prstGeom prst="roundRect">
            <a:avLst/>
          </a:prstGeom>
          <a:solidFill>
            <a:srgbClr val="FFFFE6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latin typeface="Arial"/>
              </a:defRPr>
            </a:pPr>
            <a:r>
              <a:t>Year 1 Net Benefit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754880" y="5577840"/>
            <a:ext cx="2743200" cy="411480"/>
          </a:xfrm>
          <a:prstGeom prst="roundRect">
            <a:avLst/>
          </a:prstGeom>
          <a:solidFill>
            <a:srgbClr val="FFFFB4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latin typeface="Arial"/>
              </a:defRPr>
            </a:pPr>
            <a:r>
              <a:t>-$278K to +$200K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680960" y="5577840"/>
            <a:ext cx="2834640" cy="411480"/>
          </a:xfrm>
          <a:prstGeom prst="roundRect">
            <a:avLst/>
          </a:prstGeom>
          <a:solidFill>
            <a:srgbClr val="FFFFE6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latin typeface="Arial"/>
              </a:defRPr>
            </a:pPr>
            <a:r>
              <a:t>(Investment phase)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6035040"/>
            <a:ext cx="4114800" cy="411480"/>
          </a:xfrm>
          <a:prstGeom prst="roundRect">
            <a:avLst/>
          </a:prstGeom>
          <a:solidFill>
            <a:srgbClr val="FFFFE6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latin typeface="Arial"/>
              </a:defRPr>
            </a:pPr>
            <a:r>
              <a:t>Payback Period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54880" y="6035040"/>
            <a:ext cx="2743200" cy="411480"/>
          </a:xfrm>
          <a:prstGeom prst="roundRect">
            <a:avLst/>
          </a:prstGeom>
          <a:solidFill>
            <a:srgbClr val="FFFFB4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latin typeface="Arial"/>
              </a:defRPr>
            </a:pPr>
            <a:r>
              <a:t>10-16 months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80960" y="6035040"/>
            <a:ext cx="2834640" cy="411480"/>
          </a:xfrm>
          <a:prstGeom prst="roundRect">
            <a:avLst/>
          </a:prstGeom>
          <a:solidFill>
            <a:srgbClr val="FFFFE6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latin typeface="Arial"/>
              </a:defRPr>
            </a:pPr>
            <a:r>
              <a:t>(Strong business case)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6492240"/>
            <a:ext cx="4114800" cy="411480"/>
          </a:xfrm>
          <a:prstGeom prst="roundRect">
            <a:avLst/>
          </a:prstGeom>
          <a:solidFill>
            <a:srgbClr val="FFFFE6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latin typeface="Arial"/>
              </a:defRPr>
            </a:pPr>
            <a:r>
              <a:t>Year 2 Net Benefit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754880" y="6492240"/>
            <a:ext cx="2743200" cy="411480"/>
          </a:xfrm>
          <a:prstGeom prst="roundRect">
            <a:avLst/>
          </a:prstGeom>
          <a:solidFill>
            <a:srgbClr val="FFFFB4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latin typeface="Arial"/>
              </a:defRPr>
            </a:pPr>
            <a:r>
              <a:t>+$722K-1.2M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680960" y="6492240"/>
            <a:ext cx="2834640" cy="411480"/>
          </a:xfrm>
          <a:prstGeom prst="roundRect">
            <a:avLst/>
          </a:prstGeom>
          <a:solidFill>
            <a:srgbClr val="FFFFE6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latin typeface="Arial"/>
              </a:defRPr>
            </a:pPr>
            <a:r>
              <a:t>(Recurring profit)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6949440"/>
            <a:ext cx="4114800" cy="411480"/>
          </a:xfrm>
          <a:prstGeom prst="roundRect">
            <a:avLst/>
          </a:prstGeom>
          <a:solidFill>
            <a:srgbClr val="FFFFE6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latin typeface="Arial"/>
              </a:defRPr>
            </a:pPr>
            <a:r>
              <a:t>Year 3 Net Benefit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754880" y="6949440"/>
            <a:ext cx="2743200" cy="411480"/>
          </a:xfrm>
          <a:prstGeom prst="roundRect">
            <a:avLst/>
          </a:prstGeom>
          <a:solidFill>
            <a:srgbClr val="FFFFB4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latin typeface="Arial"/>
              </a:defRPr>
            </a:pPr>
            <a:r>
              <a:t>+$722K-1.2M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680960" y="6949440"/>
            <a:ext cx="2834640" cy="411480"/>
          </a:xfrm>
          <a:prstGeom prst="roundRect">
            <a:avLst/>
          </a:prstGeom>
          <a:solidFill>
            <a:srgbClr val="FFFFE6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latin typeface="Arial"/>
              </a:defRPr>
            </a:pPr>
            <a:r>
              <a:t>(Recurring profit)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7406640"/>
            <a:ext cx="4114800" cy="411480"/>
          </a:xfrm>
          <a:prstGeom prst="roundRect">
            <a:avLst/>
          </a:prstGeom>
          <a:solidFill>
            <a:srgbClr val="FFFFE6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latin typeface="Arial"/>
              </a:defRPr>
            </a:pPr>
            <a:r>
              <a:t>3-Year Total Net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754880" y="7406640"/>
            <a:ext cx="2743200" cy="411480"/>
          </a:xfrm>
          <a:prstGeom prst="roundRect">
            <a:avLst/>
          </a:prstGeom>
          <a:solidFill>
            <a:srgbClr val="FFFFB4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latin typeface="Arial"/>
              </a:defRPr>
            </a:pPr>
            <a:r>
              <a:t>+$1.166M-2.1M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680960" y="7406640"/>
            <a:ext cx="2834640" cy="411480"/>
          </a:xfrm>
          <a:prstGeom prst="roundRect">
            <a:avLst/>
          </a:prstGeom>
          <a:solidFill>
            <a:srgbClr val="FFFFE6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latin typeface="Arial"/>
              </a:defRPr>
            </a:pPr>
            <a:r>
              <a:t>(Excellent ROI)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7863840"/>
            <a:ext cx="4114800" cy="411480"/>
          </a:xfrm>
          <a:prstGeom prst="roundRect">
            <a:avLst/>
          </a:prstGeom>
          <a:solidFill>
            <a:srgbClr val="FFFFE6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latin typeface="Arial"/>
              </a:defRPr>
            </a:pPr>
            <a:r>
              <a:t>IRR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754880" y="7863840"/>
            <a:ext cx="2743200" cy="411480"/>
          </a:xfrm>
          <a:prstGeom prst="roundRect">
            <a:avLst/>
          </a:prstGeom>
          <a:solidFill>
            <a:srgbClr val="FFFFB4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latin typeface="Arial"/>
              </a:defRPr>
            </a:pPr>
            <a:r>
              <a:t>45-65%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680960" y="7863840"/>
            <a:ext cx="2834640" cy="411480"/>
          </a:xfrm>
          <a:prstGeom prst="roundRect">
            <a:avLst/>
          </a:prstGeom>
          <a:solidFill>
            <a:srgbClr val="FFFFE6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latin typeface="Arial"/>
              </a:defRPr>
            </a:pPr>
            <a:r>
              <a:t>(Very attractive)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972800" y="5577840"/>
            <a:ext cx="3200400" cy="2103120"/>
          </a:xfrm>
          <a:prstGeom prst="roundRect">
            <a:avLst/>
          </a:prstGeom>
          <a:solidFill>
            <a:srgbClr val="C8F0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latin typeface="Arial"/>
              </a:defRPr>
            </a:pPr>
            <a:r>
              <a:t>KEY TAKEAWAYS</a:t>
            </a:r>
          </a:p>
          <a:p>
            <a:pPr>
              <a:defRPr sz="900"/>
            </a:pPr>
            <a:r>
              <a:t>✓ Strong ROI: 10-16 months</a:t>
            </a:r>
          </a:p>
          <a:p>
            <a:pPr>
              <a:defRPr sz="900"/>
            </a:pPr>
            <a:r>
              <a:t>✓ Low risk investment</a:t>
            </a:r>
          </a:p>
          <a:p>
            <a:pPr>
              <a:defRPr sz="900"/>
            </a:pPr>
            <a:r>
              <a:t>✓ Recurring annual benefit</a:t>
            </a:r>
          </a:p>
          <a:p>
            <a:pPr>
              <a:defRPr sz="900"/>
            </a:pPr>
            <a:r>
              <a:t>✓ Compliance deadline met</a:t>
            </a:r>
          </a:p>
          <a:p>
            <a:pPr>
              <a:defRPr sz="900"/>
            </a:pPr>
            <a:r>
              <a:t>✓ Scalable for multi-plant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